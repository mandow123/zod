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42f40900f439d" /><Relationship Type="http://schemas.openxmlformats.org/officeDocument/2006/relationships/extended-properties" Target="/docProps/app.xml" Id="R9028e5920d914b00" /><Relationship Type="http://schemas.openxmlformats.org/officeDocument/2006/relationships/officeDocument" Target="/ppt/presentation.xml" Id="R87bd94f48b2347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90e229322540ca"/>
  </p:sldMasterIdLst>
  <p:notesMasterIdLst>
    <p:notesMasterId xmlns:r="http://schemas.openxmlformats.org/officeDocument/2006/relationships" r:id="Rf56c2a7030224066"/>
  </p:notesMasterIdLst>
  <p:sldIdLst>
    <p:sldId xmlns:r="http://schemas.openxmlformats.org/officeDocument/2006/relationships" id="256" r:id="Rfd5f8a2ede59480b"/>
    <p:sldId xmlns:r="http://schemas.openxmlformats.org/officeDocument/2006/relationships" id="257" r:id="Ra8942ccc943a4e2f"/>
    <p:sldId xmlns:r="http://schemas.openxmlformats.org/officeDocument/2006/relationships" id="258" r:id="R296b3e2a4b444855"/>
    <p:sldId xmlns:r="http://schemas.openxmlformats.org/officeDocument/2006/relationships" id="259" r:id="Rdf0a54f80ee84c88"/>
    <p:sldId xmlns:r="http://schemas.openxmlformats.org/officeDocument/2006/relationships" id="260" r:id="R549a8ec67793480d"/>
    <p:sldId xmlns:r="http://schemas.openxmlformats.org/officeDocument/2006/relationships" id="261" r:id="Ree85fa70003940d1"/>
    <p:sldId xmlns:r="http://schemas.openxmlformats.org/officeDocument/2006/relationships" id="262" r:id="R09d3f95b601e431c"/>
    <p:sldId xmlns:r="http://schemas.openxmlformats.org/officeDocument/2006/relationships" id="263" r:id="R050b9e0b949644ad"/>
    <p:sldId xmlns:r="http://schemas.openxmlformats.org/officeDocument/2006/relationships" id="264" r:id="R18f34e9dd3f44f2a"/>
    <p:sldId xmlns:r="http://schemas.openxmlformats.org/officeDocument/2006/relationships" id="265" r:id="Rafdffb35aedf4544"/>
    <p:sldId xmlns:r="http://schemas.openxmlformats.org/officeDocument/2006/relationships" id="266" r:id="Re973bdba913244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8076fc820547fd" /><Relationship Type="http://schemas.openxmlformats.org/officeDocument/2006/relationships/slideMaster" Target="/ppt/slideMasters/slideMaster1.xml" Id="R2f90e229322540ca" /><Relationship Type="http://schemas.openxmlformats.org/officeDocument/2006/relationships/notesMaster" Target="/ppt/notesMasters/notesMaster1.xml" Id="Rf56c2a7030224066" /><Relationship Type="http://schemas.openxmlformats.org/officeDocument/2006/relationships/presProps" Target="/ppt/presProps.xml" Id="R634213df20bf48ef" /><Relationship Type="http://schemas.openxmlformats.org/officeDocument/2006/relationships/tableStyles" Target="/ppt/tableStyles.xml" Id="Rdcb500d9659c414b" /><Relationship Type="http://schemas.openxmlformats.org/officeDocument/2006/relationships/slide" Target="/ppt/slides/slide1.xml" Id="Rfd5f8a2ede59480b" /><Relationship Type="http://schemas.openxmlformats.org/officeDocument/2006/relationships/slide" Target="/ppt/slides/slide2.xml" Id="Ra8942ccc943a4e2f" /><Relationship Type="http://schemas.openxmlformats.org/officeDocument/2006/relationships/slide" Target="/ppt/slides/slide3.xml" Id="R296b3e2a4b444855" /><Relationship Type="http://schemas.openxmlformats.org/officeDocument/2006/relationships/slide" Target="/ppt/slides/slide4.xml" Id="Rdf0a54f80ee84c88" /><Relationship Type="http://schemas.openxmlformats.org/officeDocument/2006/relationships/slide" Target="/ppt/slides/slide5.xml" Id="R549a8ec67793480d" /><Relationship Type="http://schemas.openxmlformats.org/officeDocument/2006/relationships/slide" Target="/ppt/slides/slide6.xml" Id="Ree85fa70003940d1" /><Relationship Type="http://schemas.openxmlformats.org/officeDocument/2006/relationships/slide" Target="/ppt/slides/slide7.xml" Id="R09d3f95b601e431c" /><Relationship Type="http://schemas.openxmlformats.org/officeDocument/2006/relationships/slide" Target="/ppt/slides/slide8.xml" Id="R050b9e0b949644ad" /><Relationship Type="http://schemas.openxmlformats.org/officeDocument/2006/relationships/slide" Target="/ppt/slides/slide9.xml" Id="R18f34e9dd3f44f2a" /><Relationship Type="http://schemas.openxmlformats.org/officeDocument/2006/relationships/slide" Target="/ppt/slides/slide10.xml" Id="Rafdffb35aedf4544" /><Relationship Type="http://schemas.openxmlformats.org/officeDocument/2006/relationships/slide" Target="/ppt/slides/slide11.xml" Id="Re973bdba913244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41e075d3d64d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a29dd6172c4a7c" /><Relationship Type="http://schemas.openxmlformats.org/officeDocument/2006/relationships/notesMaster" Target="/ppt/notesMasters/notesMaster1.xml" Id="R987ab597bd4b49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8e3b9dd5aa4214" /><Relationship Type="http://schemas.openxmlformats.org/officeDocument/2006/relationships/notesMaster" Target="/ppt/notesMasters/notesMaster1.xml" Id="R7c752419387245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11484484ed4a7a" /><Relationship Type="http://schemas.openxmlformats.org/officeDocument/2006/relationships/notesMaster" Target="/ppt/notesMasters/notesMaster1.xml" Id="Rb5b5efc38f04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38dfc2c0a642e7" /><Relationship Type="http://schemas.openxmlformats.org/officeDocument/2006/relationships/notesMaster" Target="/ppt/notesMasters/notesMaster1.xml" Id="R7349e94260c2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86a5b37f35412f" /><Relationship Type="http://schemas.openxmlformats.org/officeDocument/2006/relationships/notesMaster" Target="/ppt/notesMasters/notesMaster1.xml" Id="Rc2ba40fc15b741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5d95c3f4774391" /><Relationship Type="http://schemas.openxmlformats.org/officeDocument/2006/relationships/notesMaster" Target="/ppt/notesMasters/notesMaster1.xml" Id="R3627e622053541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2ad6686e23433e" /><Relationship Type="http://schemas.openxmlformats.org/officeDocument/2006/relationships/notesMaster" Target="/ppt/notesMasters/notesMaster1.xml" Id="R44739b29a2bd4f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2891110159407f" /><Relationship Type="http://schemas.openxmlformats.org/officeDocument/2006/relationships/notesMaster" Target="/ppt/notesMasters/notesMaster1.xml" Id="R845575b6d5fc4f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1d883bfc184833" /><Relationship Type="http://schemas.openxmlformats.org/officeDocument/2006/relationships/notesMaster" Target="/ppt/notesMasters/notesMaster1.xml" Id="R825a44b51c4a41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6a0beb4a524562" /><Relationship Type="http://schemas.openxmlformats.org/officeDocument/2006/relationships/notesMaster" Target="/ppt/notesMasters/notesMaster1.xml" Id="Reb174087c42441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89206602c14a28" /><Relationship Type="http://schemas.openxmlformats.org/officeDocument/2006/relationships/notesMaster" Target="/ppt/notesMasters/notesMaster1.xml" Id="R65968a9f94a94f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E:/KAI/zod/zod/.codex-tmp/admin-deck/source-notes.txt</a:t>
            </a:r>
          </a:p>
          <a:p xmlns:a="http://schemas.openxmlformats.org/drawingml/2006/main">
            <a:r>
              <a:t>E:/KAI/zod/zod/.codex-tmp/admin-deck/screenshots/02-dashboard.png（本地演示截图，临时数据）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E:/KAI/zod/zod/admin/src/App.tsx</a:t>
            </a:r>
          </a:p>
          <a:p xmlns:a="http://schemas.openxmlformats.org/drawingml/2006/main">
            <a:r>
              <a:t>E:/KAI/zod/zod/admin/src/pages/DashboardPage.tsx</a:t>
            </a:r>
          </a:p>
          <a:p xmlns:a="http://schemas.openxmlformats.org/drawingml/2006/main">
            <a:r>
              <a:t>E:/KAI/zod/zod/admin/src/pages/DomainPages.tsx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E:/KAI/zod/zod/.codex-tmp/admin-deck/screenshots/01-login.png（本地演示截图）</a:t>
            </a:r>
          </a:p>
          <a:p xmlns:a="http://schemas.openxmlformats.org/drawingml/2006/main">
            <a:r>
              <a:t>E:/KAI/zod/zod/admin/src/pages/LoginPage.tsx</a:t>
            </a:r>
          </a:p>
          <a:p xmlns:a="http://schemas.openxmlformats.org/drawingml/2006/main">
            <a:r>
              <a:t>E:/KAI/zod/zod/admin/README.md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E:/KAI/zod/zod/admin/src/auth/permissions.ts</a:t>
            </a:r>
          </a:p>
          <a:p xmlns:a="http://schemas.openxmlformats.org/drawingml/2006/main">
            <a:r>
              <a:t>E:/KAI/zod/zod/admin/src/App.tsx</a:t>
            </a:r>
          </a:p>
          <a:p xmlns:a="http://schemas.openxmlformats.org/drawingml/2006/main">
            <a:r>
              <a:t>E:/KAI/zod/zod/admin/src/api/client.ts</a:t>
            </a:r>
          </a:p>
          <a:p xmlns:a="http://schemas.openxmlformats.org/drawingml/2006/main">
            <a:r>
              <a:t>E:/KAI/zod/zod/admin/src/test/permissions.test.ts</a:t>
            </a:r>
          </a:p>
          <a:p xmlns:a="http://schemas.openxmlformats.org/drawingml/2006/main">
            <a:r>
              <a:t>E:/KAI/zod/zod/backend/src/admin/routes.ts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E:/KAI/zod/zod/.codex-tmp/admin-deck/screenshots/02-dashboard.png（本地演示截图，临时数据）</a:t>
            </a:r>
          </a:p>
          <a:p xmlns:a="http://schemas.openxmlformats.org/drawingml/2006/main">
            <a:r>
              <a:t>E:/KAI/zod/zod/admin/src/pages/DashboardPage.tsx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E:/KAI/zod/zod/.codex-tmp/admin-deck/screenshots/03-compute-orders.png（本地演示截图，临时数据）</a:t>
            </a:r>
          </a:p>
          <a:p xmlns:a="http://schemas.openxmlformats.org/drawingml/2006/main">
            <a:r>
              <a:t>E:/KAI/zod/zod/admin/src/pages/DomainPages.tsx</a:t>
            </a:r>
          </a:p>
          <a:p xmlns:a="http://schemas.openxmlformats.org/drawingml/2006/main">
            <a:r>
              <a:t>E:/KAI/zod/zod/admin/src/pages/ListPage.tsx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E:/KAI/zod/zod/.codex-tmp/admin-deck/screenshots/04-device-orders.png（本地演示截图，临时数据）</a:t>
            </a:r>
          </a:p>
          <a:p xmlns:a="http://schemas.openxmlformats.org/drawingml/2006/main">
            <a:r>
              <a:t>E:/KAI/zod/zod/admin/src/pages/DomainPages.tsx</a:t>
            </a:r>
          </a:p>
          <a:p xmlns:a="http://schemas.openxmlformats.org/drawingml/2006/main">
            <a:r>
              <a:t>E:/KAI/zod/zod/admin/src/pages/ListPage.tsx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E:/KAI/zod/zod/.codex-tmp/admin-deck/screenshots/05-payouts.png（本地演示截图，临时数据）</a:t>
            </a:r>
          </a:p>
          <a:p xmlns:a="http://schemas.openxmlformats.org/drawingml/2006/main">
            <a:r>
              <a:t>E:/KAI/zod/zod/admin/src/pages/DomainPages.tsx</a:t>
            </a:r>
          </a:p>
          <a:p xmlns:a="http://schemas.openxmlformats.org/drawingml/2006/main">
            <a:r>
              <a:t>E:/KAI/zod/zod/admin/src/pages/ListPage.tsx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E:/KAI/zod/zod/.codex-tmp/admin-deck/screenshots/06-topups.png（本地演示截图，临时数据）</a:t>
            </a:r>
          </a:p>
          <a:p xmlns:a="http://schemas.openxmlformats.org/drawingml/2006/main">
            <a:r>
              <a:t>E:/KAI/zod/zod/admin/src/pages/DomainPages.tsx</a:t>
            </a:r>
          </a:p>
          <a:p xmlns:a="http://schemas.openxmlformats.org/drawingml/2006/main">
            <a:r>
              <a:t>E:/KAI/zod/zod/admin/src/pages/ListPage.tsx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E:/KAI/zod/zod/.codex-tmp/admin-deck/source-notes.txt</a:t>
            </a:r>
          </a:p>
          <a:p xmlns:a="http://schemas.openxmlformats.org/drawingml/2006/main">
            <a:r>
              <a:t>E:/KAI/zod/zod/admin/src/test/client.test.ts</a:t>
            </a:r>
          </a:p>
          <a:p xmlns:a="http://schemas.openxmlformats.org/drawingml/2006/main">
            <a:r>
              <a:t>E:/KAI/zod/zod/backend/test/admin-app-integration.test.ts</a:t>
            </a:r>
          </a:p>
          <a:p xmlns:a="http://schemas.openxmlformats.org/drawingml/2006/main">
            <a:r>
              <a:t>E:/KAI/zod/zod/backend/scripts/verify-admin-boundary.mjs</a:t>
            </a:r>
          </a:p>
          <a:p xmlns:a="http://schemas.openxmlformats.org/drawingml/2006/main">
            <a:r>
              <a:t>E:/KAI/zod/zod/admin/Dockerfile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E:/KAI/zod/zod/admin/README.md</a:t>
            </a:r>
          </a:p>
          <a:p xmlns:a="http://schemas.openxmlformats.org/drawingml/2006/main">
            <a:r>
              <a:t>E:/KAI/zod/zod/docs/admin-production-runbook.md</a:t>
            </a:r>
          </a:p>
          <a:p xmlns:a="http://schemas.openxmlformats.org/drawingml/2006/main">
            <a:r>
              <a:t>E:/KAI/zod/zod/.codex-tmp/admin-deck/source-notes.txt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9269cf0f94f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3eb5b7e6424a93" /><Relationship Type="http://schemas.openxmlformats.org/officeDocument/2006/relationships/slideLayout" Target="/ppt/slideLayouts/slideLayout1.xml" Id="R4db48b206a1444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b48b206a1444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709954e2844f9" /><Relationship Type="http://schemas.openxmlformats.org/officeDocument/2006/relationships/image" Target="/ppt/media/image.png" Id="R811969b48ec74f11" /><Relationship Type="http://schemas.openxmlformats.org/officeDocument/2006/relationships/notesSlide" Target="/ppt/notesSlides/notesSlide1.xml" Id="Rff9cef37533946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10e504de7497c" /><Relationship Type="http://schemas.openxmlformats.org/officeDocument/2006/relationships/notesSlide" Target="/ppt/notesSlides/notesSlide2.xml" Id="R453a34d2524f43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72b93e11c4e4e" /><Relationship Type="http://schemas.openxmlformats.org/officeDocument/2006/relationships/image" Target="/ppt/media/image2.png" Id="R323a949fb6ff49a2" /><Relationship Type="http://schemas.openxmlformats.org/officeDocument/2006/relationships/notesSlide" Target="/ppt/notesSlides/notesSlide3.xml" Id="R344e24a0c3174c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aff954629407d" /><Relationship Type="http://schemas.openxmlformats.org/officeDocument/2006/relationships/notesSlide" Target="/ppt/notesSlides/notesSlide4.xml" Id="R679c5dd0bff143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a483b59d34546" /><Relationship Type="http://schemas.openxmlformats.org/officeDocument/2006/relationships/image" Target="/ppt/media/image3.png" Id="R5ad86308bc4b4170" /><Relationship Type="http://schemas.openxmlformats.org/officeDocument/2006/relationships/notesSlide" Target="/ppt/notesSlides/notesSlide5.xml" Id="R767e50ce33c54e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1e4f743d64976" /><Relationship Type="http://schemas.openxmlformats.org/officeDocument/2006/relationships/image" Target="/ppt/media/image4.png" Id="Rd0ec9c9c952b4e97" /><Relationship Type="http://schemas.openxmlformats.org/officeDocument/2006/relationships/notesSlide" Target="/ppt/notesSlides/notesSlide6.xml" Id="R722933f63bdf4c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d1a850eca4fc1" /><Relationship Type="http://schemas.openxmlformats.org/officeDocument/2006/relationships/image" Target="/ppt/media/image5.png" Id="Rb65c0d51827b4e47" /><Relationship Type="http://schemas.openxmlformats.org/officeDocument/2006/relationships/notesSlide" Target="/ppt/notesSlides/notesSlide7.xml" Id="R8234c21ac0b64b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955a1f10e4c19" /><Relationship Type="http://schemas.openxmlformats.org/officeDocument/2006/relationships/image" Target="/ppt/media/image6.png" Id="R8642aebfaf3d4a71" /><Relationship Type="http://schemas.openxmlformats.org/officeDocument/2006/relationships/notesSlide" Target="/ppt/notesSlides/notesSlide8.xml" Id="R9e9e9dce56974a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6d66fe6844b4a" /><Relationship Type="http://schemas.openxmlformats.org/officeDocument/2006/relationships/image" Target="/ppt/media/image7.png" Id="R81e5dd1e65fa454b" /><Relationship Type="http://schemas.openxmlformats.org/officeDocument/2006/relationships/notesSlide" Target="/ppt/notesSlides/notesSlide9.xml" Id="R6202547b46b242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9589803a4dc5" /><Relationship Type="http://schemas.openxmlformats.org/officeDocument/2006/relationships/notesSlide" Target="/ppt/notesSlides/notesSlide10.xml" Id="Re0d110319d394e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b3c6647474acc" /><Relationship Type="http://schemas.openxmlformats.org/officeDocument/2006/relationships/notesSlide" Target="/ppt/notesSlides/notesSlide11.xml" Id="R2a42adfe6e8949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D20D8-F4A8-4F37-B842-FB3EE04A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0"/>
            <a:ext cx="58864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C1220"/>
          </a:solidFill>
          <a:ln xmlns:a="http://schemas.openxmlformats.org/drawingml/2006/main" w="9525">
            <a:solidFill>
              <a:srgbClr val="0C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DE06E-8EA2-4F5F-B565-0DF8B7A3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220"/>
                </a:solidFill>
              </a:defRPr>
            </a:pPr>
            <a:r>
              <a:rPr sz="1650" b="1">
                <a:solidFill>
                  <a:srgbClr val="0C1220"/>
                </a:solidFill>
              </a:rPr>
              <a:t>KAI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F6F66-A93F-4E31-A9E8-47B3FF11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C1220"/>
                </a:solidFill>
              </a:defRPr>
            </a:pPr>
            <a:r>
              <a:rPr sz="4050" b="1">
                <a:solidFill>
                  <a:srgbClr val="0C1220"/>
                </a:solidFill>
              </a:rPr>
              <a:t>管理员后台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29F9A-A5DF-44C6-AF2C-BAE4777D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产品演示与上线收口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23A11-08DF-486E-BFF5-33582B6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16173"/>
                </a:solidFill>
              </a:defRPr>
            </a:pPr>
            <a:r>
              <a:rPr sz="1650" b="0">
                <a:solidFill>
                  <a:srgbClr val="516173"/>
                </a:solidFill>
              </a:rPr>
              <a:t>面向管理层 / 项目干系人</a:t>
            </a:r>
          </a:p>
          <a:p xmlns:a="http://schemas.openxmlformats.org/drawingml/2006/main">
            <a:pPr algn="l">
              <a:defRPr sz="1650" b="0">
                <a:solidFill>
                  <a:srgbClr val="516173"/>
                </a:solidFill>
              </a:defRPr>
            </a:pPr>
            <a:r>
              <a:rPr sz="1650" b="0">
                <a:solidFill>
                  <a:srgbClr val="516173"/>
                </a:solidFill>
              </a:rPr>
              <a:t>界面、业务覆盖、安全边界与下一步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969b48ec74f11"/>
          <a:srcRect xmlns:a="http://schemas.openxmlformats.org/drawingml/2006/main" l="42" t="0" r="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257300"/>
            <a:ext cx="4552950" cy="2847975"/>
          </a:xfrm>
          <a:prstGeom xmlns:a="http://schemas.openxmlformats.org/drawingml/2006/main" prst="roundRect">
            <a:avLst>
              <a:gd name="adj" fmla="val 401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CE762-85F9-4B27-B2A9-6D46CD94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72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独立的管理控制面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让关键状态可见、可核对、可追溯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68488-E24C-45BD-855F-A0F3EB1E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173"/>
                </a:solidFill>
              </a:defRPr>
            </a:pPr>
            <a:r>
              <a:rPr sz="975" b="0">
                <a:solidFill>
                  <a:srgbClr val="516173"/>
                </a:solidFill>
              </a:rPr>
              <a:t>本稿仅陈述代码与本地演示已验证事实；截图数据为临时示例。</a:t>
            </a:r>
          </a:p>
        </p:txBody>
      </p:sp>
      <p:sp>
        <p:nvSpPr>
          <p:cNvPr id="9" name="footer-1">
            <a:extLst xmlns:a="http://schemas.openxmlformats.org/drawingml/2006/main">
              <a:ext uri="{FF2B5EF4-FFF2-40B4-BE49-F238E27FC236}">
                <a16:creationId xmlns:a16="http://schemas.microsoft.com/office/drawing/2014/main" id="{499C55C9-D3B1-49E1-AD7F-A9457B69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01</a:t>
            </a:r>
          </a:p>
        </p:txBody>
      </p:sp>
    </p:spTree>
    <p:extLst>
      <p:ext uri="{BB962C8B-B14F-4D97-AF65-F5344CB8AC3E}">
        <p14:creationId xmlns:p14="http://schemas.microsoft.com/office/powerpoint/2010/main" val="138455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86C0C-043B-4B57-8FC3-E9055319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POSITIONING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9BD880-F7A7-4BAB-8D71-DFB637CA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管理员后台聚焦“查看、核对、受控访问”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D615B-81B7-4D0E-A53E-D1BFD348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16173"/>
                </a:solidFill>
              </a:defRPr>
            </a:pPr>
            <a:r>
              <a:rPr sz="1650" b="0">
                <a:solidFill>
                  <a:srgbClr val="516173"/>
                </a:solidFill>
              </a:rPr>
              <a:t>它不是移动端的延伸，而是独立安全域中的管理工作区。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9ABF9-6D12-46D0-B552-5A806E41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7A7D0-8E13-4670-82BB-677FCEDA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FCD22-F753-4644-8C8E-3C732114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1220"/>
                </a:solidFill>
              </a:defRPr>
            </a:pPr>
            <a:r>
              <a:rPr sz="1950" b="1">
                <a:solidFill>
                  <a:srgbClr val="0C1220"/>
                </a:solidFill>
              </a:rPr>
              <a:t>运行视野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73887-F464-4FAB-B403-70D1E94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总览页汇聚关键业务状态与近期业务活动。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8AE56-901D-4EEE-B82F-A25C025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89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830F5-4A1A-4EBD-959D-971EF000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C3531-8835-4290-A242-55D6739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1220"/>
                </a:solidFill>
              </a:defRPr>
            </a:pPr>
            <a:r>
              <a:rPr sz="1950" b="1">
                <a:solidFill>
                  <a:srgbClr val="0C1220"/>
                </a:solidFill>
              </a:rPr>
              <a:t>交易核对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CEF01-081D-474E-8795-1BC0E215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62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覆盖算力订单、设备订单、提现、充值四个现有只读域。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A161F-932B-44E6-B19D-CAF7E950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8AA4E-C42D-48E0-BB30-FD162093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2725C-2F91-480C-937F-E3FCC7E4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1220"/>
                </a:solidFill>
              </a:defRPr>
            </a:pPr>
            <a:r>
              <a:rPr sz="1950" b="1">
                <a:solidFill>
                  <a:srgbClr val="0C1220"/>
                </a:solidFill>
              </a:rPr>
              <a:t>受控访问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D072B-E47D-4844-A450-CAF310E6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会话与精确权限决定页面入口与数据读取边界。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C0E87-97A0-4AED-B5C9-0B340089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9F5FC"/>
          </a:solidFill>
          <a:ln xmlns:a="http://schemas.openxmlformats.org/drawingml/2006/main" w="9525">
            <a:solidFill>
              <a:srgbClr val="E9F5F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F9127-7DEE-48C0-982F-1B6C1C8F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20"/>
                </a:solidFill>
              </a:defRPr>
            </a:pPr>
            <a:r>
              <a:rPr sz="1725" b="1">
                <a:solidFill>
                  <a:srgbClr val="0C1220"/>
                </a:solidFill>
              </a:rPr>
              <a:t>管理层应看到的结果：运营与财务的关键记录可在一个受控入口中完成核对，而非分散于临时查询。</a:t>
            </a:r>
          </a:p>
        </p:txBody>
      </p:sp>
      <p:sp>
        <p:nvSpPr>
          <p:cNvPr id="18" name="footer-2">
            <a:extLst xmlns:a="http://schemas.openxmlformats.org/drawingml/2006/main">
              <a:ext uri="{FF2B5EF4-FFF2-40B4-BE49-F238E27FC236}">
                <a16:creationId xmlns:a16="http://schemas.microsoft.com/office/drawing/2014/main" id="{EDD4473B-9396-4A48-AB71-FDF3B9BC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02</a:t>
            </a:r>
          </a:p>
        </p:txBody>
      </p:sp>
    </p:spTree>
    <p:extLst>
      <p:ext uri="{BB962C8B-B14F-4D97-AF65-F5344CB8AC3E}">
        <p14:creationId xmlns:p14="http://schemas.microsoft.com/office/powerpoint/2010/main" val="69059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08E60-7D73-4D3A-A7B2-9B4B88DE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CONTROLLED ENTRY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C3EDF6-83CE-443F-9E50-6FBA685B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登录从企业身份入口开始，管理会话独立于移动端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a949fb6ff49a2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57350"/>
            <a:ext cx="6191250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D0F5F-0D65-4C5C-935F-41A6244C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CE784-DB52-4885-8181-981FFBD6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20"/>
                </a:solidFill>
              </a:defRPr>
            </a:pPr>
            <a:r>
              <a:rPr sz="1725" b="1">
                <a:solidFill>
                  <a:srgbClr val="0C1220"/>
                </a:solidFill>
              </a:rPr>
              <a:t>企业身份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4586B-7C2E-40CF-87B0-11ECD02B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登录触发至 /admin/v1/auth/login 的完整页面跳转。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D0F27-B283-4A38-8441-C3D310D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927AD-5476-4852-B452-0E6E1D35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20"/>
                </a:solidFill>
              </a:defRPr>
            </a:pPr>
            <a:r>
              <a:rPr sz="1725" b="1">
                <a:solidFill>
                  <a:srgbClr val="0C1220"/>
                </a:solidFill>
              </a:rPr>
              <a:t>独立会话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18CD4-6B95-4309-887B-1E8A71CB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290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前端明确声明：管理会话不与移动端账号共享。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14EF5-973A-4313-BD73-9478DA49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098A3-2A19-4175-BB90-C7879AF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100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20"/>
                </a:solidFill>
              </a:defRPr>
            </a:pPr>
            <a:r>
              <a:rPr sz="1725" b="1">
                <a:solidFill>
                  <a:srgbClr val="0C1220"/>
                </a:solidFill>
              </a:rPr>
              <a:t>管理记录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E3699-9C13-4CEE-857A-DC8C5BED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339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界面提示管理操作可能被记录，形成受控操作预期。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0C4F9-4C0C-4D34-A32F-0F27E132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581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173"/>
                </a:solidFill>
              </a:defRPr>
            </a:pPr>
            <a:r>
              <a:rPr sz="1050" b="0">
                <a:solidFill>
                  <a:srgbClr val="516173"/>
                </a:solidFill>
              </a:rPr>
              <a:t>界面证据：真实前端登录页，本地匿名态截图</a:t>
            </a:r>
          </a:p>
        </p:txBody>
      </p:sp>
      <p:sp>
        <p:nvSpPr>
          <p:cNvPr id="14" name="footer-3">
            <a:extLst xmlns:a="http://schemas.openxmlformats.org/drawingml/2006/main">
              <a:ext uri="{FF2B5EF4-FFF2-40B4-BE49-F238E27FC236}">
                <a16:creationId xmlns:a16="http://schemas.microsoft.com/office/drawing/2014/main" id="{761BC797-73A9-4DA1-80C9-2F7B299A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03</a:t>
            </a:r>
          </a:p>
        </p:txBody>
      </p:sp>
    </p:spTree>
    <p:extLst>
      <p:ext uri="{BB962C8B-B14F-4D97-AF65-F5344CB8AC3E}">
        <p14:creationId xmlns:p14="http://schemas.microsoft.com/office/powerpoint/2010/main" val="183767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B4729-37B1-4EB1-9668-B14405C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SECURITY &amp; AUTHORIZATION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17FF41-7B1B-4113-80D4-2132AC2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权限按页面精确裁决，不由角色名称“自动放行”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D10D1-2123-41DA-9AB2-669C932A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173"/>
                </a:solidFill>
              </a:defRPr>
            </a:pPr>
            <a:r>
              <a:rPr sz="1575" b="0">
                <a:solidFill>
                  <a:srgbClr val="516173"/>
                </a:solidFill>
              </a:rPr>
              <a:t>前端仅根据后端返回的权限快照展示入口并放行路由；会话、Origin 与 CSRF 共同构成边界。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4C7FE-D76C-4332-85D9-143B874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457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9E7D4-8930-4EBD-8FE0-2AD11FBA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1220"/>
                </a:solidFill>
              </a:defRPr>
            </a:pPr>
            <a:r>
              <a:rPr sz="1800" b="1">
                <a:solidFill>
                  <a:srgbClr val="0C1220"/>
                </a:solidFill>
              </a:rPr>
              <a:t>会话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A9229-A1B8-4387-A884-32E125D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HttpOnly Cookie</a:t>
            </a:r>
          </a:p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不进入浏览器存储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E652B-8DA8-4F4E-B5A9-18E50AC0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A3FB3-D727-4BEF-8B84-669E1A30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457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F6128-D317-44E1-887B-D3FF93F7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1220"/>
                </a:solidFill>
              </a:defRPr>
            </a:pPr>
            <a:r>
              <a:rPr sz="1800" b="1">
                <a:solidFill>
                  <a:srgbClr val="0C1220"/>
                </a:solidFill>
              </a:rPr>
              <a:t>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4A833-69B8-481A-A26E-BEDA967F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五个页面权限点</a:t>
            </a:r>
          </a:p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按页面守卫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67DB2-B023-4F65-A5B3-588E9D48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B4BBD-ABB2-448F-9871-E4E50E67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2457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31870-EC5B-4263-8FD3-941D505D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1220"/>
                </a:solidFill>
              </a:defRPr>
            </a:pPr>
            <a:r>
              <a:rPr sz="1800" b="1">
                <a:solidFill>
                  <a:srgbClr val="0C1220"/>
                </a:solidFill>
              </a:rPr>
              <a:t>请求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21268-DDF4-4104-926F-1DB6FF84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credentials include</a:t>
            </a:r>
          </a:p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cache no-store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13247-89D2-4565-957A-C39BDAEB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53D4C-D129-4606-9E4A-8B9DCDFA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4574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7D659-95C5-43D5-9CAC-2B46B03D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1220"/>
                </a:solidFill>
              </a:defRPr>
            </a:pPr>
            <a:r>
              <a:rPr sz="1800" b="1">
                <a:solidFill>
                  <a:srgbClr val="0C1220"/>
                </a:solidFill>
              </a:rPr>
              <a:t>变更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F400E-7781-4711-903A-38EE1D1C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CSRF 仅在内存中</a:t>
            </a:r>
          </a:p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用于非安全方法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26621-E0AB-4D24-9D86-93DD35E9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A0E7F-2ABC-4304-9006-EF0EBD3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C1220"/>
          </a:solidFill>
          <a:ln xmlns:a="http://schemas.openxmlformats.org/drawingml/2006/main" w="9525">
            <a:solidFill>
              <a:srgbClr val="0C12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A7E6A-7E1A-4E80-A088-1B4672CE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已验证测试事实：super_admin 角色名称本身不隐式授予提现页；页面访问必须命中对应权限快照。</a:t>
            </a:r>
          </a:p>
        </p:txBody>
      </p:sp>
      <p:sp>
        <p:nvSpPr>
          <p:cNvPr id="22" name="footer-4">
            <a:extLst xmlns:a="http://schemas.openxmlformats.org/drawingml/2006/main">
              <a:ext uri="{FF2B5EF4-FFF2-40B4-BE49-F238E27FC236}">
                <a16:creationId xmlns:a16="http://schemas.microsoft.com/office/drawing/2014/main" id="{DCF21FB7-D1DE-4B43-BB0A-BE1D0CD6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04</a:t>
            </a:r>
          </a:p>
        </p:txBody>
      </p:sp>
    </p:spTree>
    <p:extLst>
      <p:ext uri="{BB962C8B-B14F-4D97-AF65-F5344CB8AC3E}">
        <p14:creationId xmlns:p14="http://schemas.microsoft.com/office/powerpoint/2010/main" val="1540553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0C555-788E-4942-985A-FF165296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SYSTEM PULSE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5E7026-B011-488C-84C4-EF740617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运行总览把关键状态与近期业务活动放在同一工作面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C1220-BF36-413B-9086-8578BBDC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173"/>
                </a:solidFill>
              </a:defRPr>
            </a:pPr>
            <a:r>
              <a:rPr sz="1425" b="0">
                <a:solidFill>
                  <a:srgbClr val="516173"/>
                </a:solidFill>
              </a:rPr>
              <a:t>界面以指标和只读活动流组织管理注意力；截图中数值为临时演示数据，不代表线上表现。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86308bc4b41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71628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8DE72-B187-4113-9570-4D717839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3528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F5FC"/>
          </a:solidFill>
          <a:ln xmlns:a="http://schemas.openxmlformats.org/drawingml/2006/main" w="9525">
            <a:solidFill>
              <a:srgbClr val="E9F5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8AF30-91C3-4A64-A7C9-3DBD92A8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C3E5C-D262-4731-AFA2-C5E1CA82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860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220"/>
                </a:solidFill>
              </a:defRPr>
            </a:pPr>
            <a:r>
              <a:rPr sz="1425" b="1">
                <a:solidFill>
                  <a:srgbClr val="0C1220"/>
                </a:solidFill>
              </a:rPr>
              <a:t>先识别业务状态</a:t>
            </a:r>
          </a:p>
          <a:p xmlns:a="http://schemas.openxmlformats.org/drawingml/2006/main">
            <a:pPr algn="l">
              <a:defRPr sz="1425" b="1">
                <a:solidFill>
                  <a:srgbClr val="0C1220"/>
                </a:solidFill>
              </a:defRPr>
            </a:pPr>
            <a:r>
              <a:rPr sz="1425" b="1">
                <a:solidFill>
                  <a:srgbClr val="0C1220"/>
                </a:solidFill>
              </a:rPr>
              <a:t>再定位相关业务活动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8F8CA-8BBF-4B56-AD3F-03BCE29A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33528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86FE7-2331-440C-B03B-E52041C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220"/>
                </a:solidFill>
              </a:defRPr>
            </a:pPr>
            <a:r>
              <a:rPr sz="1650" b="1">
                <a:solidFill>
                  <a:srgbClr val="0C1220"/>
                </a:solidFill>
              </a:rPr>
              <a:t>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6AE5D-8C52-4CD0-9DD0-3B970032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100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173"/>
                </a:solidFill>
              </a:defRPr>
            </a:pPr>
            <a:r>
              <a:rPr sz="1200" b="0">
                <a:solidFill>
                  <a:srgbClr val="516173"/>
                </a:solidFill>
              </a:rPr>
              <a:t>页面标注“实时读取 · 不缓存”</a:t>
            </a:r>
          </a:p>
          <a:p xmlns:a="http://schemas.openxmlformats.org/drawingml/2006/main">
            <a:pPr algn="l">
              <a:defRPr sz="1200" b="0">
                <a:solidFill>
                  <a:srgbClr val="516173"/>
                </a:solidFill>
              </a:defRPr>
            </a:pPr>
            <a:r>
              <a:rPr sz="1200" b="0">
                <a:solidFill>
                  <a:srgbClr val="516173"/>
                </a:solidFill>
              </a:rPr>
              <a:t>活动流标注“只读”</a:t>
            </a:r>
          </a:p>
        </p:txBody>
      </p:sp>
      <p:sp>
        <p:nvSpPr>
          <p:cNvPr id="11" name="footer-5">
            <a:extLst xmlns:a="http://schemas.openxmlformats.org/drawingml/2006/main">
              <a:ext uri="{FF2B5EF4-FFF2-40B4-BE49-F238E27FC236}">
                <a16:creationId xmlns:a16="http://schemas.microsoft.com/office/drawing/2014/main" id="{DB36C78E-F6F3-4AB2-A440-936B0FE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05</a:t>
            </a:r>
          </a:p>
        </p:txBody>
      </p:sp>
    </p:spTree>
    <p:extLst>
      <p:ext uri="{BB962C8B-B14F-4D97-AF65-F5344CB8AC3E}">
        <p14:creationId xmlns:p14="http://schemas.microsoft.com/office/powerpoint/2010/main" val="1791387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8B0AE-139D-4220-9ABF-B7D6A88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COMPUTE COMMERCE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9EB9C5-BB14-46F5-8F86-16732628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算力订单将订单、数量与履约状态集中核对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c9c9c952b4e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762000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0B25A-D06F-4F58-B1A1-1940BEF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52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220"/>
                </a:solidFill>
              </a:defRPr>
            </a:pPr>
            <a:r>
              <a:rPr sz="1650" b="1">
                <a:solidFill>
                  <a:srgbClr val="0C1220"/>
                </a:solidFill>
              </a:rPr>
              <a:t>画面中的核对字段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63875-9252-4FE3-AF44-190EB7D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5770A-1752-4ED7-A7CE-3449B06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28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220"/>
                </a:solidFill>
              </a:defRPr>
            </a:pPr>
            <a:r>
              <a:rPr sz="1350" b="1">
                <a:solidFill>
                  <a:srgbClr val="0C1220"/>
                </a:solidFill>
              </a:rPr>
              <a:t>订单编号与状态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E62DC-45EA-4277-8A57-BC0E5D3C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241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2BD24-FB19-4D36-B376-2DF2C683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220"/>
                </a:solidFill>
              </a:defRPr>
            </a:pPr>
            <a:r>
              <a:rPr sz="1350" b="1">
                <a:solidFill>
                  <a:srgbClr val="0C1220"/>
                </a:solidFill>
              </a:rPr>
              <a:t>数量与单位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E81AF-7A61-4079-A029-427A3B27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90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47871-1895-4433-98CD-85D71F02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623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220"/>
                </a:solidFill>
              </a:defRPr>
            </a:pPr>
            <a:r>
              <a:rPr sz="1350" b="1">
                <a:solidFill>
                  <a:srgbClr val="0C1220"/>
                </a:solidFill>
              </a:rPr>
              <a:t>总卡时（微）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BC570-8A67-4956-B8E2-0143052C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576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5F5C9-6621-44D5-B1EA-2BA19F46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29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220"/>
                </a:solidFill>
              </a:defRPr>
            </a:pPr>
            <a:r>
              <a:rPr sz="1350" b="1">
                <a:solidFill>
                  <a:srgbClr val="0C1220"/>
                </a:solidFill>
              </a:rPr>
              <a:t>创建时间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2CB70-E96E-41ED-B4FE-746BADEC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046FA-E2C1-4370-9D19-46B1D51F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95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220"/>
                </a:solidFill>
              </a:defRPr>
            </a:pPr>
            <a:r>
              <a:rPr sz="1350" b="1">
                <a:solidFill>
                  <a:srgbClr val="0C1220"/>
                </a:solidFill>
              </a:rPr>
              <a:t>更新时间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D27F7-6203-40D2-87D5-6EAD089E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53000"/>
            <a:ext cx="20383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FC"/>
          </a:solidFill>
          <a:ln xmlns:a="http://schemas.openxmlformats.org/drawingml/2006/main" w="9525">
            <a:solidFill>
              <a:srgbClr val="E9F5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2DC0D-BBE8-4388-9E9B-E810A24F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2445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16173"/>
                </a:solidFill>
              </a:defRPr>
            </a:pPr>
            <a:r>
              <a:rPr sz="1125" b="1">
                <a:solidFill>
                  <a:srgbClr val="516173"/>
                </a:solidFill>
              </a:rPr>
              <a:t>支持最多 50 条 / 页的游标分页；</a:t>
            </a:r>
          </a:p>
          <a:p xmlns:a="http://schemas.openxmlformats.org/drawingml/2006/main">
            <a:pPr algn="l">
              <a:defRPr sz="1125" b="1">
                <a:solidFill>
                  <a:srgbClr val="516173"/>
                </a:solidFill>
              </a:defRPr>
            </a:pPr>
            <a:r>
              <a:rPr sz="1125" b="1">
                <a:solidFill>
                  <a:srgbClr val="516173"/>
                </a:solidFill>
              </a:rPr>
              <a:t>页面本身不含写操作。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ED43E-22B0-4E3D-8792-AFC7EAE3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173"/>
                </a:solidFill>
              </a:defRPr>
            </a:pPr>
            <a:r>
              <a:rPr sz="975" b="0">
                <a:solidFill>
                  <a:srgbClr val="516173"/>
                </a:solidFill>
              </a:rPr>
              <a:t>截图数据为本地临时演示数据</a:t>
            </a:r>
          </a:p>
        </p:txBody>
      </p:sp>
      <p:sp>
        <p:nvSpPr>
          <p:cNvPr id="18" name="footer-6">
            <a:extLst xmlns:a="http://schemas.openxmlformats.org/drawingml/2006/main">
              <a:ext uri="{FF2B5EF4-FFF2-40B4-BE49-F238E27FC236}">
                <a16:creationId xmlns:a16="http://schemas.microsoft.com/office/drawing/2014/main" id="{200AD6E1-91B0-4DCC-8D8A-5C9E8A08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06</a:t>
            </a:r>
          </a:p>
        </p:txBody>
      </p:sp>
    </p:spTree>
    <p:extLst>
      <p:ext uri="{BB962C8B-B14F-4D97-AF65-F5344CB8AC3E}">
        <p14:creationId xmlns:p14="http://schemas.microsoft.com/office/powerpoint/2010/main" val="1552602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B85B2-694E-4994-8408-141FC51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DEVICE COMMERCE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AA27DA-EAE9-4E3C-B18C-A730944C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设备订单延续一致的状态与卡时核对模式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c0d51827b4e47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619250"/>
            <a:ext cx="721995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0D23A-27E7-49F2-8CAE-91E5573B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1220"/>
                </a:solidFill>
              </a:defRPr>
            </a:pPr>
            <a:r>
              <a:rPr sz="1800" b="1">
                <a:solidFill>
                  <a:srgbClr val="0C1220"/>
                </a:solidFill>
              </a:rPr>
              <a:t>同一列表骨架，针对设备订单聚焦：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61E20-D7B2-4DB5-A81E-6F0DB15D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2BDA1-7507-459B-959E-8357EB9A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20"/>
                </a:solidFill>
              </a:defRPr>
            </a:pPr>
            <a:r>
              <a:rPr sz="1725" b="1">
                <a:solidFill>
                  <a:srgbClr val="0C1220"/>
                </a:solidFill>
              </a:rPr>
              <a:t>设备订单字段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A4ABD-E4A9-4BDA-B632-19BA326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展示订单编号、状态、数量。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745F9-D371-4463-BC63-7677247C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44CF4-E2BE-429C-A1F7-72B7B0D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20"/>
                </a:solidFill>
              </a:defRPr>
            </a:pPr>
            <a:r>
              <a:rPr sz="1725" b="1">
                <a:solidFill>
                  <a:srgbClr val="0C1220"/>
                </a:solidFill>
              </a:rPr>
              <a:t>资金核对上下文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AD863-8503-4205-B06C-A10D0A4D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保留卡时（微）、创建时间与更新时间。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DC932-05F4-4DFD-BB9D-9FEA2ABD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F80AC-39B9-4BF4-BD9D-2B371FBC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20"/>
                </a:solidFill>
              </a:defRPr>
            </a:pPr>
            <a:r>
              <a:rPr sz="1725" b="1">
                <a:solidFill>
                  <a:srgbClr val="0C1220"/>
                </a:solidFill>
              </a:rPr>
              <a:t>一致的查看体验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6FF90-D304-4E72-A497-796504BD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统一的只读列表与游标分页。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7DD6F-3675-4054-A17A-20699233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246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173"/>
                </a:solidFill>
              </a:defRPr>
            </a:pPr>
            <a:r>
              <a:rPr sz="975" b="0">
                <a:solidFill>
                  <a:srgbClr val="516173"/>
                </a:solidFill>
              </a:rPr>
              <a:t>截图数据为本地临时演示数据</a:t>
            </a:r>
          </a:p>
        </p:txBody>
      </p:sp>
      <p:sp>
        <p:nvSpPr>
          <p:cNvPr id="15" name="footer-7">
            <a:extLst xmlns:a="http://schemas.openxmlformats.org/drawingml/2006/main">
              <a:ext uri="{FF2B5EF4-FFF2-40B4-BE49-F238E27FC236}">
                <a16:creationId xmlns:a16="http://schemas.microsoft.com/office/drawing/2014/main" id="{0C4A306A-AE1C-48F5-90C9-3D1DDF04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07</a:t>
            </a:r>
          </a:p>
        </p:txBody>
      </p:sp>
    </p:spTree>
    <p:extLst>
      <p:ext uri="{BB962C8B-B14F-4D97-AF65-F5344CB8AC3E}">
        <p14:creationId xmlns:p14="http://schemas.microsoft.com/office/powerpoint/2010/main" val="1976353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2357B-1071-44FE-A86D-2515D1A0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FINANCE / PAYOUT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5F3B9E-6B13-4818-A3D9-452B5B65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提现管理提供资金处理状态的只读核对视图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2aebfaf3d4a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DCB6E-977B-463D-8554-327AE913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05000"/>
            <a:ext cx="3181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5FC"/>
          </a:solidFill>
          <a:ln xmlns:a="http://schemas.openxmlformats.org/drawingml/2006/main" w="9525">
            <a:solidFill>
              <a:srgbClr val="E9F5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E3136-705A-488F-B874-C7B75E28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核对对象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12741-B9BA-4A29-B10F-028AF402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220"/>
                </a:solidFill>
              </a:defRPr>
            </a:pPr>
            <a:r>
              <a:rPr sz="1350" b="1">
                <a:solidFill>
                  <a:srgbClr val="0C1220"/>
                </a:solidFill>
              </a:rPr>
              <a:t>提现编号与状态</a:t>
            </a:r>
          </a:p>
          <a:p xmlns:a="http://schemas.openxmlformats.org/drawingml/2006/main">
            <a:pPr algn="l">
              <a:defRPr sz="1350" b="1">
                <a:solidFill>
                  <a:srgbClr val="0C1220"/>
                </a:solidFill>
              </a:defRPr>
            </a:pPr>
            <a:r>
              <a:rPr sz="1350" b="1">
                <a:solidFill>
                  <a:srgbClr val="0C1220"/>
                </a:solidFill>
              </a:rPr>
              <a:t>卡时微值与付款分值</a:t>
            </a:r>
          </a:p>
          <a:p xmlns:a="http://schemas.openxmlformats.org/drawingml/2006/main">
            <a:pPr algn="l">
              <a:defRPr sz="1350" b="1">
                <a:solidFill>
                  <a:srgbClr val="0C1220"/>
                </a:solidFill>
              </a:defRPr>
            </a:pPr>
            <a:r>
              <a:rPr sz="1350" b="1">
                <a:solidFill>
                  <a:srgbClr val="0C1220"/>
                </a:solidFill>
              </a:rPr>
              <a:t>更新时间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76E03-A15E-48B7-9594-A1D39F95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3181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4DE49-65CB-4E6E-BC79-F4DBCD14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57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220"/>
                </a:solidFill>
              </a:defRPr>
            </a:pPr>
            <a:r>
              <a:rPr sz="1650" b="1">
                <a:solidFill>
                  <a:srgbClr val="0C1220"/>
                </a:solidFill>
              </a:rPr>
              <a:t>设计边界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64AA8-8EF4-4077-825A-229D6DEC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576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173"/>
                </a:solidFill>
              </a:defRPr>
            </a:pPr>
            <a:r>
              <a:rPr sz="1275" b="0">
                <a:solidFill>
                  <a:srgbClr val="516173"/>
                </a:solidFill>
              </a:rPr>
              <a:t>页面描述为“只读核对提现请求与资金处理状态”。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9DCC5-4C38-4B86-BFDD-9C2CB6C2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53000"/>
            <a:ext cx="31813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220"/>
          </a:solidFill>
          <a:ln xmlns:a="http://schemas.openxmlformats.org/drawingml/2006/main" w="9525">
            <a:solidFill>
              <a:srgbClr val="0C12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F95C3-F368-429E-8BD6-E15E12E5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43500"/>
            <a:ext cx="249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管理层解读：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先具备统一视图，再进入流程联调与验收。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E1FED-461D-4F23-A2A1-3789CD3D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173"/>
                </a:solidFill>
              </a:defRPr>
            </a:pPr>
            <a:r>
              <a:rPr sz="975" b="0">
                <a:solidFill>
                  <a:srgbClr val="516173"/>
                </a:solidFill>
              </a:rPr>
              <a:t>截图数据为本地临时演示数据</a:t>
            </a:r>
          </a:p>
        </p:txBody>
      </p:sp>
      <p:sp>
        <p:nvSpPr>
          <p:cNvPr id="13" name="footer-8">
            <a:extLst xmlns:a="http://schemas.openxmlformats.org/drawingml/2006/main">
              <a:ext uri="{FF2B5EF4-FFF2-40B4-BE49-F238E27FC236}">
                <a16:creationId xmlns:a16="http://schemas.microsoft.com/office/drawing/2014/main" id="{F8A3494C-D816-402F-8205-03F61DB6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08</a:t>
            </a:r>
          </a:p>
        </p:txBody>
      </p:sp>
    </p:spTree>
    <p:extLst>
      <p:ext uri="{BB962C8B-B14F-4D97-AF65-F5344CB8AC3E}">
        <p14:creationId xmlns:p14="http://schemas.microsoft.com/office/powerpoint/2010/main" val="18737058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5209B-60A8-47E2-BE48-A37DC0D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FINANCE / TOPUP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B0C72F-FADB-4270-B999-07759229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充值记录让渠道、金额、到账与冲正状态可核对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5dd1e65fa45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6200" y="1657350"/>
            <a:ext cx="762000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967AD-4652-4782-A919-0C0174F9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1220"/>
                </a:solidFill>
              </a:defRPr>
            </a:pPr>
            <a:r>
              <a:rPr sz="1800" b="1">
                <a:solidFill>
                  <a:srgbClr val="0C1220"/>
                </a:solidFill>
              </a:rPr>
              <a:t>面向核对的字段层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02D3B-E71E-49FC-9E48-66CB3278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6F161-3F3A-487E-B842-0BA92809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220"/>
                </a:solidFill>
              </a:defRPr>
            </a:pPr>
            <a:r>
              <a:rPr sz="1575" b="1">
                <a:solidFill>
                  <a:srgbClr val="0C1220"/>
                </a:solidFill>
              </a:rPr>
              <a:t>充值编号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AF376-4552-4EF8-B053-8BFCCAFB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8EB85-D46D-48EE-BFD1-E153D40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C773-BFB7-4793-BC5E-9BDA0058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71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220"/>
                </a:solidFill>
              </a:defRPr>
            </a:pPr>
            <a:r>
              <a:rPr sz="1575" b="1">
                <a:solidFill>
                  <a:srgbClr val="0C1220"/>
                </a:solidFill>
              </a:rPr>
              <a:t>处理状态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4EB84-E79B-488B-8BDA-E0A7BAF4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0D2AA-A5EC-4D7E-B0DD-41FB6BFA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B1240-FF2C-40A5-B561-AB541765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671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220"/>
                </a:solidFill>
              </a:defRPr>
            </a:pPr>
            <a:r>
              <a:rPr sz="1575" b="1">
                <a:solidFill>
                  <a:srgbClr val="0C1220"/>
                </a:solidFill>
              </a:rPr>
              <a:t>支付渠道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06580-7CEE-4F50-8FA0-8C1D7191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DC8F9-0E78-45D7-A34F-DE8797BD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4FF88-0F39-45B4-B6AC-256CB723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62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220"/>
                </a:solidFill>
              </a:defRPr>
            </a:pPr>
            <a:r>
              <a:rPr sz="1575" b="1">
                <a:solidFill>
                  <a:srgbClr val="0C1220"/>
                </a:solidFill>
              </a:rPr>
              <a:t>充值金额（分）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41349-2BB5-48B2-825C-3B652822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F3713-B786-4773-AA19-629E79E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55954-275E-4BD3-A7EE-9E08A620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577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220"/>
                </a:solidFill>
              </a:defRPr>
            </a:pPr>
            <a:r>
              <a:rPr sz="1575" b="1">
                <a:solidFill>
                  <a:srgbClr val="0C1220"/>
                </a:solidFill>
              </a:rPr>
              <a:t>到账卡时（微）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1161C-4F80-438E-A49B-D71038A6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32832-F60A-4C41-B8E9-47EFE21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C3D29-41C4-4E1B-B08D-F2D280F2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530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220"/>
                </a:solidFill>
              </a:defRPr>
            </a:pPr>
            <a:r>
              <a:rPr sz="1575" b="1">
                <a:solidFill>
                  <a:srgbClr val="0C1220"/>
                </a:solidFill>
              </a:rPr>
              <a:t>冲正 / 更新时间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7BCA5-EFD1-4307-9A7A-E021C3D7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AE1D8-B574-4FDF-A8C8-CF349051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与提现页共享只读列表与游标分页机制。</a:t>
            </a:r>
          </a:p>
        </p:txBody>
      </p:sp>
      <p:sp>
        <p:nvSpPr>
          <p:cNvPr id="24" name="footer-9">
            <a:extLst xmlns:a="http://schemas.openxmlformats.org/drawingml/2006/main">
              <a:ext uri="{FF2B5EF4-FFF2-40B4-BE49-F238E27FC236}">
                <a16:creationId xmlns:a16="http://schemas.microsoft.com/office/drawing/2014/main" id="{64E3B861-80BE-46A9-899F-BAFFB1E3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09</a:t>
            </a:r>
          </a:p>
        </p:txBody>
      </p:sp>
    </p:spTree>
    <p:extLst>
      <p:ext uri="{BB962C8B-B14F-4D97-AF65-F5344CB8AC3E}">
        <p14:creationId xmlns:p14="http://schemas.microsoft.com/office/powerpoint/2010/main" val="69263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C3434-85E5-44AE-AD22-36AE9F73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ENGINEERING BOUNDARIES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2BCCF9-47DC-4BDB-B2F4-BB80AF7B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界面、接口与部署门禁已收口；真实环境接入仍是上线前置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595C0-A31D-4912-B3D8-A543B0BA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58CF3-962E-4796-9C82-8F8C05A9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220"/>
                </a:solidFill>
              </a:defRPr>
            </a:pPr>
            <a:r>
              <a:rPr sz="1650" b="1">
                <a:solidFill>
                  <a:srgbClr val="0C1220"/>
                </a:solidFill>
              </a:rPr>
              <a:t>已验证：产品功能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F7D9E-B65C-4A34-B3C3-5EBBDF33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独立登录与会话、精确权限、总览和四个 P0 只读业务域均已接入真实后端契约。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38103-0598-4BF9-809B-2CE9F09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9A5AA-01D6-410F-A231-5E921148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220"/>
                </a:solidFill>
              </a:defRPr>
            </a:pPr>
            <a:r>
              <a:rPr sz="1650" b="1">
                <a:solidFill>
                  <a:srgbClr val="0C1220"/>
                </a:solidFill>
              </a:rPr>
              <a:t>已验证：工程门禁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C7E78-50BE-4BE3-9088-DD3B71AD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09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前后端专项、数据库并发、契约与安全边界通过；非 root Web 容器、健康检查和安全头已实跑。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07FF-B498-4272-9DDF-74B5A44D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E04F9-CA49-4865-860F-8990C19C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待环境验收：身份与数据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0060E-0594-4D18-99A6-D2F3C7A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仍需以生产 OIDC、真实 Group 映射、生产密钥与生产数据完成端到端烟测，验证后再放量。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A11BE-5C72-46A7-B960-FF8EEB37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汇报原则：代码、测试与容器验证是上线门禁证据；演示数据仍不代表线上业务成果。</a:t>
            </a:r>
          </a:p>
        </p:txBody>
      </p:sp>
      <p:sp>
        <p:nvSpPr>
          <p:cNvPr id="13" name="footer-10">
            <a:extLst xmlns:a="http://schemas.openxmlformats.org/drawingml/2006/main">
              <a:ext uri="{FF2B5EF4-FFF2-40B4-BE49-F238E27FC236}">
                <a16:creationId xmlns:a16="http://schemas.microsoft.com/office/drawing/2014/main" id="{7F7D68E0-89E5-4D12-99A9-F67F3474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10</a:t>
            </a:r>
          </a:p>
        </p:txBody>
      </p:sp>
    </p:spTree>
    <p:extLst>
      <p:ext uri="{BB962C8B-B14F-4D97-AF65-F5344CB8AC3E}">
        <p14:creationId xmlns:p14="http://schemas.microsoft.com/office/powerpoint/2010/main" val="453346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D7288-6B2E-4836-80DF-19F9FF6D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LAUNCH CLOSURE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D76EBC-5E9D-4225-BB47-FFB4FF62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220"/>
                </a:solidFill>
              </a:defRPr>
            </a:pPr>
            <a:r>
              <a:rPr sz="2850" b="1">
                <a:solidFill>
                  <a:srgbClr val="0C1220"/>
                </a:solidFill>
              </a:rPr>
              <a:t>下一步：把已通过版本接入真实身份、数据与生产环境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EE688-E11F-4242-B0B8-8F90191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C12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0DD49-1154-4542-8D90-2850451D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D7EC4-5382-4384-B3C3-1792B2D0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8B247-B65F-4DD6-A0DF-8F4228E9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1220"/>
                </a:solidFill>
              </a:defRPr>
            </a:pPr>
            <a:r>
              <a:rPr sz="1875" b="1">
                <a:solidFill>
                  <a:srgbClr val="0C1220"/>
                </a:solidFill>
              </a:rPr>
              <a:t>生产配置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29927-D1CD-4296-99A5-15BED028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由密钥系统注入 OIDC、Group 映射、Pepper 与加密密钥。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33198-BDF6-4227-96DF-9C2ED210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32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8055D-E8DD-49B8-B070-E165A449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24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29698-FA42-4614-86DB-DA7CD99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10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1220"/>
                </a:solidFill>
              </a:defRPr>
            </a:pPr>
            <a:r>
              <a:rPr sz="1875" b="1">
                <a:solidFill>
                  <a:srgbClr val="0C1220"/>
                </a:solidFill>
              </a:rPr>
              <a:t>真环境烟测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326C2-D023-48DF-88C9-0CA8D67C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672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验证登录、权限、会话失效、四类列表和错误态。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723BD-46C6-4DF2-A254-F11FC612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432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508CF-BC9D-451E-ACB4-2B6EA3E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CDF24-9B20-44E6-84E4-889A27EF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1220"/>
                </a:solidFill>
              </a:defRPr>
            </a:pPr>
            <a:r>
              <a:rPr sz="1875" b="1">
                <a:solidFill>
                  <a:srgbClr val="0C1220"/>
                </a:solidFill>
              </a:rPr>
              <a:t>上线观察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EA459-898C-40C9-9F16-9D21F4D0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3"/>
                </a:solidFill>
              </a:defRPr>
            </a:pPr>
            <a:r>
              <a:rPr sz="1350" b="0">
                <a:solidFill>
                  <a:srgbClr val="516173"/>
                </a:solidFill>
              </a:rPr>
              <a:t>发布管理前后端，核验健康检查、安全头、审计、监控和回滚。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60982-790A-4233-8954-5A9060C2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C1220"/>
          </a:solidFill>
          <a:ln xmlns:a="http://schemas.openxmlformats.org/drawingml/2006/main" w="9525">
            <a:solidFill>
              <a:srgbClr val="0C12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9E5D6-796D-457A-80F5-56BC93A6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816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建议决策：同意进入生产环境配置与发布审核；真实 OIDC 与生产数据验收通过后再放量。</a:t>
            </a:r>
          </a:p>
        </p:txBody>
      </p:sp>
      <p:sp>
        <p:nvSpPr>
          <p:cNvPr id="18" name="footer-11">
            <a:extLst xmlns:a="http://schemas.openxmlformats.org/drawingml/2006/main">
              <a:ext uri="{FF2B5EF4-FFF2-40B4-BE49-F238E27FC236}">
                <a16:creationId xmlns:a16="http://schemas.microsoft.com/office/drawing/2014/main" id="{8A2692B3-9BE3-4E63-A915-45ECC91D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16173"/>
                </a:solidFill>
              </a:defRPr>
            </a:pPr>
            <a:r>
              <a:rPr sz="900" b="0">
                <a:solidFill>
                  <a:srgbClr val="516173"/>
                </a:solidFill>
              </a:rPr>
              <a:t>KAI ADMIN  /  11</a:t>
            </a:r>
          </a:p>
        </p:txBody>
      </p:sp>
    </p:spTree>
    <p:extLst>
      <p:ext uri="{BB962C8B-B14F-4D97-AF65-F5344CB8AC3E}">
        <p14:creationId xmlns:p14="http://schemas.microsoft.com/office/powerpoint/2010/main" val="2082224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2026-08-19T05:34:34.4300000Z</dcterms:created>
  <dcterms:modified xsi:type="dcterms:W3CDTF">2026-08-19T05:34:34.4320000Z</dcterms:modified>
</coreProperties>
</file>